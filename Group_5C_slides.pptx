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65" r:id="rId6"/>
    <p:sldId id="259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9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731520"/>
            <a:ext cx="82296" cy="82296"/>
          </a:xfrm>
          <a:prstGeom prst="ellipse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0" y="1234440"/>
            <a:ext cx="82296" cy="82296"/>
          </a:xfrm>
          <a:prstGeom prst="ellipse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1920240"/>
            <a:ext cx="82296" cy="82296"/>
          </a:xfrm>
          <a:prstGeom prst="ellipse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2468880"/>
            <a:ext cx="82296" cy="82296"/>
          </a:xfrm>
          <a:prstGeom prst="ellipse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0" y="3108960"/>
            <a:ext cx="82296" cy="82296"/>
          </a:xfrm>
          <a:prstGeom prst="ellipse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064240" y="3931920"/>
            <a:ext cx="82296" cy="82296"/>
          </a:xfrm>
          <a:prstGeom prst="ellipse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149840" y="4663440"/>
            <a:ext cx="82296" cy="82296"/>
          </a:xfrm>
          <a:prstGeom prst="ellipse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9820656" y="777240"/>
            <a:ext cx="1005840" cy="502920"/>
          </a:xfrm>
          <a:prstGeom prst="line">
            <a:avLst/>
          </a:prstGeom>
          <a:ln w="12700">
            <a:solidFill>
              <a:srgbClr val="18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555480" y="1280160"/>
            <a:ext cx="1271016" cy="685800"/>
          </a:xfrm>
          <a:prstGeom prst="line">
            <a:avLst/>
          </a:prstGeom>
          <a:ln w="12700">
            <a:solidFill>
              <a:srgbClr val="18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55480" y="1965960"/>
            <a:ext cx="1453896" cy="548640"/>
          </a:xfrm>
          <a:prstGeom prst="line">
            <a:avLst/>
          </a:prstGeom>
          <a:ln w="12700">
            <a:solidFill>
              <a:srgbClr val="18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912096" y="2514600"/>
            <a:ext cx="1097280" cy="640080"/>
          </a:xfrm>
          <a:prstGeom prst="line">
            <a:avLst/>
          </a:prstGeom>
          <a:ln w="12700">
            <a:solidFill>
              <a:srgbClr val="18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912096" y="3154680"/>
            <a:ext cx="1188720" cy="822959"/>
          </a:xfrm>
          <a:prstGeom prst="line">
            <a:avLst/>
          </a:prstGeom>
          <a:ln w="12700">
            <a:solidFill>
              <a:srgbClr val="18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0186416" y="3977639"/>
            <a:ext cx="914400" cy="731521"/>
          </a:xfrm>
          <a:prstGeom prst="line">
            <a:avLst/>
          </a:prstGeom>
          <a:ln w="12700">
            <a:solidFill>
              <a:srgbClr val="18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9808" y="694944"/>
            <a:ext cx="2148840" cy="292608"/>
          </a:xfrm>
          <a:prstGeom prst="roundRect">
            <a:avLst>
              <a:gd name="adj" fmla="val 12000"/>
            </a:avLst>
          </a:prstGeom>
          <a:solidFill>
            <a:srgbClr val="18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699516"/>
            <a:ext cx="200253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29D8BE"/>
                </a:solidFill>
                <a:latin typeface="Aptos"/>
              </a:rPr>
              <a:t>BACKEND PROJECT  /  5C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1389888"/>
            <a:ext cx="7955279" cy="12344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3800" b="1">
                <a:solidFill>
                  <a:srgbClr val="F5F9FF"/>
                </a:solidFill>
                <a:latin typeface="Aptos"/>
              </a:rPr>
              <a:t>Product Inventory
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2834640"/>
            <a:ext cx="68580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700" b="0">
                <a:solidFill>
                  <a:srgbClr val="A6B7CD"/>
                </a:solidFill>
                <a:latin typeface="Aptos"/>
              </a:rPr>
              <a:t>A clean REST API for managing shop products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6384" y="3493008"/>
            <a:ext cx="4425696" cy="0"/>
          </a:xfrm>
          <a:prstGeom prst="line">
            <a:avLst/>
          </a:prstGeom>
          <a:ln w="31750">
            <a:solidFill>
              <a:srgbClr val="29D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6384" y="3767328"/>
            <a:ext cx="1444752" cy="292608"/>
          </a:xfrm>
          <a:prstGeom prst="roundRect">
            <a:avLst>
              <a:gd name="adj" fmla="val 12000"/>
            </a:avLst>
          </a:prstGeom>
          <a:solidFill>
            <a:srgbClr val="18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771900"/>
            <a:ext cx="1298448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60E09B"/>
                </a:solidFill>
                <a:latin typeface="Aptos"/>
              </a:rPr>
              <a:t>NODE.JS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59152" y="3767328"/>
            <a:ext cx="1691640" cy="292608"/>
          </a:xfrm>
          <a:prstGeom prst="roundRect">
            <a:avLst>
              <a:gd name="adj" fmla="val 12000"/>
            </a:avLst>
          </a:prstGeom>
          <a:solidFill>
            <a:srgbClr val="18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32304" y="3771900"/>
            <a:ext cx="154533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5BBEFF"/>
                </a:solidFill>
                <a:latin typeface="Aptos"/>
              </a:rPr>
              <a:t>EXPRESS.JS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78808" y="3767328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18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51960" y="3771900"/>
            <a:ext cx="127101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B55C"/>
                </a:solidFill>
                <a:latin typeface="Aptos"/>
              </a:rPr>
              <a:t>REST  •  JSON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1572768"/>
            <a:ext cx="1532168" cy="285658"/>
          </a:xfrm>
          <a:prstGeom prst="roundRect">
            <a:avLst>
              <a:gd name="adj" fmla="val 12000"/>
            </a:avLst>
          </a:prstGeom>
          <a:solidFill>
            <a:srgbClr val="182C46"/>
          </a:solidFill>
          <a:ln w="15240">
            <a:solidFill>
              <a:srgbClr val="5B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542324" y="1657167"/>
            <a:ext cx="103875" cy="103875"/>
          </a:xfrm>
          <a:prstGeom prst="ellipse">
            <a:avLst/>
          </a:prstGeom>
          <a:solidFill>
            <a:srgbClr val="29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>
            <a:off x="8802014" y="1715597"/>
            <a:ext cx="727131" cy="0"/>
          </a:xfrm>
          <a:prstGeom prst="line">
            <a:avLst/>
          </a:prstGeom>
          <a:ln w="127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412480" y="1962302"/>
            <a:ext cx="1532168" cy="285658"/>
          </a:xfrm>
          <a:prstGeom prst="roundRect">
            <a:avLst>
              <a:gd name="adj" fmla="val 12000"/>
            </a:avLst>
          </a:prstGeom>
          <a:solidFill>
            <a:srgbClr val="182C46"/>
          </a:solidFill>
          <a:ln w="15240">
            <a:solidFill>
              <a:srgbClr val="5B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542324" y="2046701"/>
            <a:ext cx="103875" cy="103875"/>
          </a:xfrm>
          <a:prstGeom prst="ellipse">
            <a:avLst/>
          </a:prstGeom>
          <a:solidFill>
            <a:srgbClr val="29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8802014" y="2105131"/>
            <a:ext cx="727131" cy="0"/>
          </a:xfrm>
          <a:prstGeom prst="line">
            <a:avLst/>
          </a:prstGeom>
          <a:ln w="127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412480" y="2351836"/>
            <a:ext cx="1532168" cy="285658"/>
          </a:xfrm>
          <a:prstGeom prst="roundRect">
            <a:avLst>
              <a:gd name="adj" fmla="val 12000"/>
            </a:avLst>
          </a:prstGeom>
          <a:solidFill>
            <a:srgbClr val="182C46"/>
          </a:solidFill>
          <a:ln w="15240">
            <a:solidFill>
              <a:srgbClr val="5B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542324" y="2436235"/>
            <a:ext cx="103875" cy="103875"/>
          </a:xfrm>
          <a:prstGeom prst="ellipse">
            <a:avLst/>
          </a:prstGeom>
          <a:solidFill>
            <a:srgbClr val="29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8802014" y="2494666"/>
            <a:ext cx="727131" cy="0"/>
          </a:xfrm>
          <a:prstGeom prst="line">
            <a:avLst/>
          </a:prstGeom>
          <a:ln w="12700">
            <a:solidFill>
              <a:srgbClr val="A6B7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652260" y="3703483"/>
            <a:ext cx="288036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9D8BE"/>
                </a:solidFill>
                <a:latin typeface="Consolas"/>
              </a:rPr>
              <a:t>API  →  PRODUCTS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5074920"/>
            <a:ext cx="603504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00" b="1">
                <a:solidFill>
                  <a:srgbClr val="F5F9FF"/>
                </a:solidFill>
                <a:latin typeface="Aptos"/>
              </a:rPr>
              <a:t>BETECHIFIED BACKEND DEVELOPMENT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2700">
            <a:solidFill>
              <a:srgbClr val="18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1082732" y="6510528"/>
            <a:ext cx="484428" cy="2142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92" b="1">
                <a:solidFill>
                  <a:srgbClr val="18DCBE"/>
                </a:solidFill>
                <a:latin typeface="Aptos"/>
              </a:defRPr>
            </a:pPr>
            <a:r>
              <a:rPr dirty="0"/>
              <a:t>01 / </a:t>
            </a:r>
            <a:r>
              <a:rPr lang="en-GB" dirty="0"/>
              <a:t>08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44" b="1">
                <a:solidFill>
                  <a:srgbClr val="18DCBE"/>
                </a:solidFill>
                <a:latin typeface="Aptos Display"/>
              </a:defRPr>
            </a:pPr>
            <a:r>
              <a:t>MEET THE TEAM  /  GROUP 5C</a:t>
            </a:r>
          </a:p>
        </p:txBody>
      </p:sp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023" y="891540"/>
            <a:ext cx="7959953" cy="562356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TextBox 4"/>
          <p:cNvSpPr txBox="1"/>
          <p:nvPr/>
        </p:nvSpPr>
        <p:spPr>
          <a:xfrm>
            <a:off x="11082732" y="6510528"/>
            <a:ext cx="484428" cy="2142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92" b="1">
                <a:solidFill>
                  <a:srgbClr val="18DCBE"/>
                </a:solidFill>
                <a:latin typeface="Aptos"/>
              </a:defRPr>
            </a:pPr>
            <a:r>
              <a:rPr dirty="0"/>
              <a:t>02 / </a:t>
            </a:r>
            <a:r>
              <a:rPr lang="en-GB" dirty="0"/>
              <a:t>08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29D8BE"/>
                </a:solidFill>
                <a:latin typeface="Aptos"/>
              </a:rPr>
              <a:t>01  / 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One API. Five product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80160"/>
            <a:ext cx="1060704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A6B7CD"/>
                </a:solidFill>
                <a:latin typeface="Aptos"/>
              </a:rPr>
              <a:t>A lightweight backend that lets a shop manage its inventory through HTTP requests.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47088"/>
            <a:ext cx="5074920" cy="4160520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 w="15240">
            <a:solidFill>
              <a:srgbClr val="18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2148840"/>
            <a:ext cx="713232" cy="713232"/>
          </a:xfrm>
          <a:prstGeom prst="ellipse">
            <a:avLst/>
          </a:prstGeom>
          <a:solidFill>
            <a:srgbClr val="182C46"/>
          </a:solidFill>
          <a:ln>
            <a:solidFill>
              <a:srgbClr val="29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6" y="2240280"/>
            <a:ext cx="640080" cy="4754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29D8BE"/>
                </a:solidFill>
                <a:latin typeface="Consolas"/>
              </a:rPr>
              <a:t>&lt;/&gt;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2139696"/>
            <a:ext cx="3429000" cy="4114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900" b="1">
                <a:solidFill>
                  <a:srgbClr val="F5F9FF"/>
                </a:solidFill>
                <a:latin typeface="Aptos"/>
              </a:rPr>
              <a:t>Product Inventory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999232"/>
            <a:ext cx="4370832" cy="6583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00" b="0">
                <a:solidFill>
                  <a:srgbClr val="A6B7CD"/>
                </a:solidFill>
                <a:latin typeface="Aptos"/>
              </a:rPr>
              <a:t>A REST API that accepts requests and returns product data as JSON.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4224528"/>
            <a:ext cx="941832" cy="960120"/>
          </a:xfrm>
          <a:prstGeom prst="roundRect">
            <a:avLst>
              <a:gd name="adj" fmla="val 12000"/>
            </a:avLst>
          </a:prstGeom>
          <a:solidFill>
            <a:srgbClr val="18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4352544"/>
            <a:ext cx="85039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60E09B"/>
                </a:solidFill>
                <a:latin typeface="Consolas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754880"/>
            <a:ext cx="86868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5F9FF"/>
                </a:solidFill>
                <a:latin typeface="Aptos"/>
              </a:rPr>
              <a:t>ADD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4224528"/>
            <a:ext cx="941832" cy="960120"/>
          </a:xfrm>
          <a:prstGeom prst="roundRect">
            <a:avLst>
              <a:gd name="adj" fmla="val 12000"/>
            </a:avLst>
          </a:prstGeom>
          <a:solidFill>
            <a:srgbClr val="18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40279" y="4352544"/>
            <a:ext cx="85039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5BBEFF"/>
                </a:solidFill>
                <a:latin typeface="Consolas"/>
              </a:rPr>
              <a:t>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1136" y="4754880"/>
            <a:ext cx="86868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5F9FF"/>
                </a:solidFill>
                <a:latin typeface="Aptos"/>
              </a:rPr>
              <a:t>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4224528"/>
            <a:ext cx="941832" cy="960120"/>
          </a:xfrm>
          <a:prstGeom prst="roundRect">
            <a:avLst>
              <a:gd name="adj" fmla="val 12000"/>
            </a:avLst>
          </a:prstGeom>
          <a:solidFill>
            <a:srgbClr val="18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7288" y="4352544"/>
            <a:ext cx="85039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FFB55C"/>
                </a:solidFill>
                <a:latin typeface="Consolas"/>
              </a:rPr>
              <a:t>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8144" y="4754880"/>
            <a:ext cx="86868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5F9FF"/>
                </a:solidFill>
                <a:latin typeface="Aptos"/>
              </a:rPr>
              <a:t>EDIT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08576" y="4224528"/>
            <a:ext cx="941832" cy="960120"/>
          </a:xfrm>
          <a:prstGeom prst="roundRect">
            <a:avLst>
              <a:gd name="adj" fmla="val 12000"/>
            </a:avLst>
          </a:prstGeom>
          <a:solidFill>
            <a:srgbClr val="18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54296" y="4352544"/>
            <a:ext cx="85039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FF7080"/>
                </a:solidFill>
                <a:latin typeface="Consolas"/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4754880"/>
            <a:ext cx="86868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5F9FF"/>
                </a:solidFill>
                <a:latin typeface="Aptos"/>
              </a:rPr>
              <a:t>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5504688"/>
            <a:ext cx="434340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29D8BE"/>
                </a:solidFill>
                <a:latin typeface="Aptos"/>
              </a:rPr>
              <a:t>LIST is available through GET /products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53328" y="1847088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 w="15240">
            <a:solidFill>
              <a:srgbClr val="18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53328" y="1847088"/>
            <a:ext cx="54864" cy="1627632"/>
          </a:xfrm>
          <a:prstGeom prst="rect">
            <a:avLst/>
          </a:prstGeom>
          <a:solidFill>
            <a:srgbClr val="60E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54496" y="2020824"/>
            <a:ext cx="53035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300" b="1">
                <a:solidFill>
                  <a:srgbClr val="60E09B"/>
                </a:solidFill>
                <a:latin typeface="Consolas"/>
              </a:rPr>
              <a:t>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2011680"/>
            <a:ext cx="1591055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600" b="1">
                <a:solidFill>
                  <a:srgbClr val="F5F9FF"/>
                </a:solidFill>
                <a:latin typeface="Aptos"/>
              </a:rPr>
              <a:t>Runtime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2468880"/>
            <a:ext cx="2139696" cy="8778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0">
                <a:solidFill>
                  <a:srgbClr val="A6B7CD"/>
                </a:solidFill>
                <a:latin typeface="Aptos"/>
              </a:rPr>
              <a:t>Node.js runs the server.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1847088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 w="15240">
            <a:solidFill>
              <a:srgbClr val="18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869680" y="1847088"/>
            <a:ext cx="54864" cy="1627632"/>
          </a:xfrm>
          <a:prstGeom prst="rect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70848" y="2020824"/>
            <a:ext cx="53035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300" b="1">
                <a:solidFill>
                  <a:srgbClr val="5BBEFF"/>
                </a:solidFill>
                <a:latin typeface="Consolas"/>
              </a:rPr>
              <a:t>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011680"/>
            <a:ext cx="1591055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600" b="1">
                <a:solidFill>
                  <a:srgbClr val="F5F9FF"/>
                </a:solidFill>
                <a:latin typeface="Aptos"/>
              </a:rPr>
              <a:t>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468880"/>
            <a:ext cx="2139696" cy="8778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0">
                <a:solidFill>
                  <a:srgbClr val="A6B7CD"/>
                </a:solidFill>
                <a:latin typeface="Aptos"/>
              </a:rPr>
              <a:t>Express.js handles routes.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53328" y="3730752"/>
            <a:ext cx="5394960" cy="1316736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 w="15240">
            <a:solidFill>
              <a:srgbClr val="18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053328" y="3730752"/>
            <a:ext cx="54864" cy="1316736"/>
          </a:xfrm>
          <a:prstGeom prst="rect">
            <a:avLst/>
          </a:prstGeom>
          <a:solidFill>
            <a:srgbClr val="FF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54495" y="3873552"/>
            <a:ext cx="918877" cy="4093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300" b="1">
                <a:solidFill>
                  <a:srgbClr val="FFB55C"/>
                </a:solidFill>
                <a:latin typeface="Consolas"/>
              </a:rPr>
              <a:t>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372" y="3898847"/>
            <a:ext cx="4407408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600" b="1">
                <a:solidFill>
                  <a:srgbClr val="F5F9FF"/>
                </a:solidFill>
                <a:latin typeface="Aptos"/>
              </a:rPr>
              <a:t>Storage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4352544"/>
            <a:ext cx="4956048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0">
                <a:solidFill>
                  <a:srgbClr val="A6B7CD"/>
                </a:solidFill>
                <a:latin typeface="Aptos"/>
              </a:rPr>
              <a:t>Products are held in memory — no database is connected.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53328" y="5321808"/>
            <a:ext cx="5394960" cy="685800"/>
          </a:xfrm>
          <a:prstGeom prst="roundRect">
            <a:avLst>
              <a:gd name="adj" fmla="val 12000"/>
            </a:avLst>
          </a:prstGeom>
          <a:solidFill>
            <a:srgbClr val="18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91072" y="5468112"/>
            <a:ext cx="493776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>
                <a:solidFill>
                  <a:srgbClr val="FFB55C"/>
                </a:solidFill>
                <a:latin typeface="Aptos"/>
              </a:rPr>
              <a:t>Note: in-memory data resets when the server restarts.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2700">
            <a:solidFill>
              <a:srgbClr val="18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22023C9-9E09-E57D-B2DB-0D3F7B7A2CA8}"/>
              </a:ext>
            </a:extLst>
          </p:cNvPr>
          <p:cNvSpPr txBox="1"/>
          <p:nvPr/>
        </p:nvSpPr>
        <p:spPr>
          <a:xfrm>
            <a:off x="10820107" y="6516025"/>
            <a:ext cx="463588" cy="2142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92" b="1">
                <a:solidFill>
                  <a:srgbClr val="18DCBE"/>
                </a:solidFill>
                <a:latin typeface="Aptos"/>
              </a:defRPr>
            </a:pPr>
            <a:r>
              <a:rPr dirty="0"/>
              <a:t>0</a:t>
            </a:r>
            <a:r>
              <a:rPr lang="en-GB" dirty="0"/>
              <a:t>3</a:t>
            </a:r>
            <a:r>
              <a:rPr dirty="0"/>
              <a:t>/ </a:t>
            </a:r>
            <a:r>
              <a:rPr lang="en-GB" dirty="0"/>
              <a:t>08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29D8BE"/>
                </a:solidFill>
                <a:latin typeface="Aptos"/>
              </a:rPr>
              <a:t>02  /  ROUTE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Six endpoints. Clear responsibilities.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26168"/>
            <a:ext cx="10607040" cy="25545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lang="en-GB" sz="1300" dirty="0">
                <a:solidFill>
                  <a:srgbClr val="A6B7CD"/>
                </a:solidFill>
                <a:latin typeface="Aptos"/>
              </a:rPr>
              <a:t>The</a:t>
            </a:r>
            <a:r>
              <a:rPr sz="1300" b="0" dirty="0">
                <a:solidFill>
                  <a:srgbClr val="A6B7CD"/>
                </a:solidFill>
                <a:latin typeface="Aptos"/>
              </a:rPr>
              <a:t>se routes </a:t>
            </a:r>
            <a:r>
              <a:rPr lang="en-GB" sz="1300" dirty="0">
                <a:solidFill>
                  <a:srgbClr val="A6B7CD"/>
                </a:solidFill>
                <a:latin typeface="Aptos"/>
              </a:rPr>
              <a:t>are used </a:t>
            </a:r>
            <a:r>
              <a:rPr sz="1300" b="0" dirty="0">
                <a:solidFill>
                  <a:srgbClr val="A6B7CD"/>
                </a:solidFill>
                <a:latin typeface="Aptos"/>
              </a:rPr>
              <a:t>to read, create, update, and remove products.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10512"/>
            <a:ext cx="123444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A6B7CD"/>
                </a:solidFill>
                <a:latin typeface="Aptos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9696" y="1810512"/>
            <a:ext cx="411480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A6B7CD"/>
                </a:solidFill>
                <a:latin typeface="Aptos"/>
              </a:rPr>
              <a:t>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810512"/>
            <a:ext cx="434340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A6B7CD"/>
                </a:solidFill>
                <a:latin typeface="Aptos"/>
              </a:rPr>
              <a:t>PURPOSE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139696"/>
            <a:ext cx="10844784" cy="493776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32104" y="2240279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" y="2244851"/>
            <a:ext cx="85953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A1426"/>
                </a:solidFill>
                <a:latin typeface="Aptos"/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2194560"/>
            <a:ext cx="4315968" cy="3566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Consolas"/>
              </a:rPr>
              <a:t>/products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194560"/>
            <a:ext cx="4407408" cy="3566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A6B7CD"/>
                </a:solidFill>
                <a:latin typeface="Aptos"/>
              </a:rPr>
              <a:t>List all 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2743200"/>
            <a:ext cx="10844784" cy="493776"/>
          </a:xfrm>
          <a:prstGeom prst="roundRect">
            <a:avLst>
              <a:gd name="adj" fmla="val 12000"/>
            </a:avLst>
          </a:prstGeom>
          <a:solidFill>
            <a:srgbClr val="0E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2104" y="2843784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" y="2848356"/>
            <a:ext cx="85953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A1426"/>
                </a:solidFill>
                <a:latin typeface="Aptos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" y="2798064"/>
            <a:ext cx="4315968" cy="3566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Consolas"/>
              </a:rPr>
              <a:t>/products/:id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798064"/>
            <a:ext cx="4407408" cy="3566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A6B7CD"/>
                </a:solidFill>
                <a:latin typeface="Aptos"/>
              </a:rPr>
              <a:t>View one product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" y="3346704"/>
            <a:ext cx="10844784" cy="493776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2104" y="3447288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" y="3451860"/>
            <a:ext cx="85953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A1426"/>
                </a:solidFill>
                <a:latin typeface="Aptos"/>
              </a:rP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39696" y="3401568"/>
            <a:ext cx="4315968" cy="3566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Consolas"/>
              </a:rPr>
              <a:t>/products/low-stock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401568"/>
            <a:ext cx="4407408" cy="3566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A6B7CD"/>
                </a:solidFill>
                <a:latin typeface="Aptos"/>
              </a:rPr>
              <a:t>Find quantity below 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3950208"/>
            <a:ext cx="10844784" cy="493776"/>
          </a:xfrm>
          <a:prstGeom prst="roundRect">
            <a:avLst>
              <a:gd name="adj" fmla="val 12000"/>
            </a:avLst>
          </a:prstGeom>
          <a:solidFill>
            <a:srgbClr val="0E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2104" y="4050792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60E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6" y="4055364"/>
            <a:ext cx="85953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A1426"/>
                </a:solidFill>
                <a:latin typeface="Aptos"/>
              </a:rP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9696" y="4005072"/>
            <a:ext cx="4315968" cy="3566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Consolas"/>
              </a:rPr>
              <a:t>/products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005072"/>
            <a:ext cx="4407408" cy="3566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A6B7CD"/>
                </a:solidFill>
                <a:latin typeface="Aptos"/>
              </a:rPr>
              <a:t>Add a product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" y="4553712"/>
            <a:ext cx="10844784" cy="493776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" y="4654296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FF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5256" y="4658868"/>
            <a:ext cx="85953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A1426"/>
                </a:solidFill>
                <a:latin typeface="Aptos"/>
              </a:rPr>
              <a:t>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39696" y="4608576"/>
            <a:ext cx="4315968" cy="3566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Consolas"/>
              </a:rPr>
              <a:t>/products/:id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608576"/>
            <a:ext cx="4407408" cy="3566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A6B7CD"/>
                </a:solidFill>
                <a:latin typeface="Aptos"/>
              </a:rPr>
              <a:t>Edit a product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" y="5157216"/>
            <a:ext cx="10844784" cy="493776"/>
          </a:xfrm>
          <a:prstGeom prst="roundRect">
            <a:avLst>
              <a:gd name="adj" fmla="val 12000"/>
            </a:avLst>
          </a:prstGeom>
          <a:solidFill>
            <a:srgbClr val="0E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32104" y="5257800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FF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5256" y="5262372"/>
            <a:ext cx="85953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A1426"/>
                </a:solidFill>
                <a:latin typeface="Aptos"/>
              </a:rPr>
              <a:t>DELETE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39696" y="5212080"/>
            <a:ext cx="4315968" cy="3566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Consolas"/>
              </a:rPr>
              <a:t>/products/:id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212080"/>
            <a:ext cx="4407408" cy="3566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A6B7CD"/>
                </a:solidFill>
                <a:latin typeface="Aptos"/>
              </a:rPr>
              <a:t>Remove a product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" y="5916168"/>
            <a:ext cx="10844784" cy="338328"/>
          </a:xfrm>
          <a:prstGeom prst="roundRect">
            <a:avLst>
              <a:gd name="adj" fmla="val 12000"/>
            </a:avLst>
          </a:prstGeom>
          <a:solidFill>
            <a:srgbClr val="18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9536" y="5934456"/>
            <a:ext cx="1046988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29D8BE"/>
                </a:solidFill>
                <a:latin typeface="Aptos"/>
              </a:rPr>
              <a:t>Tip: use Postman to send requests and inspect JSON responses.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2700">
            <a:solidFill>
              <a:srgbClr val="18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78A5121-7713-96E9-E0C5-D7A70533BD3A}"/>
              </a:ext>
            </a:extLst>
          </p:cNvPr>
          <p:cNvSpPr txBox="1"/>
          <p:nvPr/>
        </p:nvSpPr>
        <p:spPr>
          <a:xfrm>
            <a:off x="11037012" y="6519672"/>
            <a:ext cx="484428" cy="2142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92" b="1">
                <a:solidFill>
                  <a:srgbClr val="18DCBE"/>
                </a:solidFill>
                <a:latin typeface="Aptos"/>
              </a:defRPr>
            </a:pPr>
            <a:r>
              <a:rPr lang="en-GB" dirty="0"/>
              <a:t>04</a:t>
            </a:r>
            <a:r>
              <a:rPr dirty="0"/>
              <a:t> / </a:t>
            </a:r>
            <a:r>
              <a:rPr lang="en-GB" dirty="0"/>
              <a:t>08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93704"/>
            <a:ext cx="5486400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1" dirty="0">
                <a:solidFill>
                  <a:srgbClr val="29D8BE"/>
                </a:solidFill>
                <a:latin typeface="Aptos"/>
              </a:rPr>
              <a:t>02  /  </a:t>
            </a:r>
            <a:r>
              <a:rPr lang="en-GB" sz="1000" b="1" dirty="0">
                <a:solidFill>
                  <a:srgbClr val="29D8BE"/>
                </a:solidFill>
                <a:latin typeface="Aptos"/>
              </a:rPr>
              <a:t>Code snippets</a:t>
            </a:r>
            <a:endParaRPr sz="1000" b="1" dirty="0">
              <a:solidFill>
                <a:srgbClr val="29D8BE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77726" y="3193154"/>
            <a:ext cx="11805631" cy="701384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77247" y="241083"/>
            <a:ext cx="85953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A1426"/>
                </a:solidFill>
                <a:latin typeface="Aptos"/>
              </a:rPr>
              <a:t>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7297" y="3430212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 flipV="1">
            <a:off x="524980" y="5784812"/>
            <a:ext cx="11358591" cy="484751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409491" y="5880883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2700">
            <a:solidFill>
              <a:srgbClr val="18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78A5121-7713-96E9-E0C5-D7A70533BD3A}"/>
              </a:ext>
            </a:extLst>
          </p:cNvPr>
          <p:cNvSpPr txBox="1"/>
          <p:nvPr/>
        </p:nvSpPr>
        <p:spPr>
          <a:xfrm>
            <a:off x="11057852" y="6519672"/>
            <a:ext cx="463588" cy="2142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92" b="1">
                <a:solidFill>
                  <a:srgbClr val="18DCBE"/>
                </a:solidFill>
                <a:latin typeface="Aptos"/>
              </a:defRPr>
            </a:pPr>
            <a:r>
              <a:rPr lang="en-GB" dirty="0"/>
              <a:t>05</a:t>
            </a:r>
            <a:r>
              <a:rPr dirty="0"/>
              <a:t>/ </a:t>
            </a:r>
            <a:r>
              <a:rPr lang="en-GB" dirty="0"/>
              <a:t>08</a:t>
            </a:r>
            <a:endParaRPr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7DD7319-85EB-8F04-B959-6C0098EAD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27" y="886287"/>
            <a:ext cx="3469369" cy="2129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4A91A6-0175-95E7-0467-5D808A1C4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360" y="997220"/>
            <a:ext cx="3828211" cy="20809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0FD69B7-10EB-F680-E72E-77EA155EC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091" y="850349"/>
            <a:ext cx="3606480" cy="2165044"/>
          </a:xfrm>
          <a:prstGeom prst="rect">
            <a:avLst/>
          </a:prstGeom>
        </p:spPr>
      </p:pic>
      <p:sp>
        <p:nvSpPr>
          <p:cNvPr id="25" name="Rounded Rectangle 13">
            <a:extLst>
              <a:ext uri="{FF2B5EF4-FFF2-40B4-BE49-F238E27FC236}">
                <a16:creationId xmlns:a16="http://schemas.microsoft.com/office/drawing/2014/main" id="{AE5CBEEB-2D6E-3112-74EB-BC4DA2C430F2}"/>
              </a:ext>
            </a:extLst>
          </p:cNvPr>
          <p:cNvSpPr/>
          <p:nvPr/>
        </p:nvSpPr>
        <p:spPr>
          <a:xfrm>
            <a:off x="5338499" y="3430212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B34A2C26-7F58-445B-D331-03BB04537AD3}"/>
              </a:ext>
            </a:extLst>
          </p:cNvPr>
          <p:cNvSpPr/>
          <p:nvPr/>
        </p:nvSpPr>
        <p:spPr>
          <a:xfrm>
            <a:off x="9519701" y="3397542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E8E6608-8AD4-DC31-1A6C-2E2A2C568A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7247" y="4072299"/>
            <a:ext cx="2969605" cy="163867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627F965-949B-7F71-D02E-589C25E5C8A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330" y="4043942"/>
            <a:ext cx="3217441" cy="171734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935DC7F-02C8-552F-DE16-1E19AA07C7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675" y="4009496"/>
            <a:ext cx="2969709" cy="1720591"/>
          </a:xfrm>
          <a:prstGeom prst="rect">
            <a:avLst/>
          </a:prstGeom>
        </p:spPr>
      </p:pic>
      <p:sp>
        <p:nvSpPr>
          <p:cNvPr id="38" name="Rounded Rectangle 18">
            <a:extLst>
              <a:ext uri="{FF2B5EF4-FFF2-40B4-BE49-F238E27FC236}">
                <a16:creationId xmlns:a16="http://schemas.microsoft.com/office/drawing/2014/main" id="{0C45D036-3469-7F3E-84F9-F39AC31589EA}"/>
              </a:ext>
            </a:extLst>
          </p:cNvPr>
          <p:cNvSpPr/>
          <p:nvPr/>
        </p:nvSpPr>
        <p:spPr>
          <a:xfrm>
            <a:off x="5074701" y="5888736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18">
            <a:extLst>
              <a:ext uri="{FF2B5EF4-FFF2-40B4-BE49-F238E27FC236}">
                <a16:creationId xmlns:a16="http://schemas.microsoft.com/office/drawing/2014/main" id="{E14D8FA3-F680-6658-BDC0-E13D77507165}"/>
              </a:ext>
            </a:extLst>
          </p:cNvPr>
          <p:cNvSpPr/>
          <p:nvPr/>
        </p:nvSpPr>
        <p:spPr>
          <a:xfrm>
            <a:off x="9115130" y="5932846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9B181B-81F0-6D7B-5FCA-92B1C5A137AB}"/>
              </a:ext>
            </a:extLst>
          </p:cNvPr>
          <p:cNvSpPr txBox="1"/>
          <p:nvPr/>
        </p:nvSpPr>
        <p:spPr>
          <a:xfrm>
            <a:off x="1230449" y="3461046"/>
            <a:ext cx="85953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 dirty="0">
                <a:solidFill>
                  <a:srgbClr val="0A1426"/>
                </a:solidFill>
                <a:latin typeface="Aptos"/>
              </a:rPr>
              <a:t>GET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24DB831-FA57-D9C7-552E-7B67130E7F1F}"/>
              </a:ext>
            </a:extLst>
          </p:cNvPr>
          <p:cNvSpPr txBox="1"/>
          <p:nvPr/>
        </p:nvSpPr>
        <p:spPr>
          <a:xfrm>
            <a:off x="5344739" y="3441802"/>
            <a:ext cx="85953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 dirty="0">
                <a:solidFill>
                  <a:srgbClr val="0A1426"/>
                </a:solidFill>
                <a:latin typeface="Aptos"/>
              </a:rPr>
              <a:t>GET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11F04C-0C13-2C7B-3C0E-425DDBED0939}"/>
              </a:ext>
            </a:extLst>
          </p:cNvPr>
          <p:cNvSpPr txBox="1"/>
          <p:nvPr/>
        </p:nvSpPr>
        <p:spPr>
          <a:xfrm>
            <a:off x="9569949" y="3427593"/>
            <a:ext cx="85953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 dirty="0">
                <a:solidFill>
                  <a:srgbClr val="0A1426"/>
                </a:solidFill>
                <a:latin typeface="Aptos"/>
              </a:rPr>
              <a:t>GET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9D729B-B2D1-2967-817C-7A7713BB8672}"/>
              </a:ext>
            </a:extLst>
          </p:cNvPr>
          <p:cNvSpPr txBox="1"/>
          <p:nvPr/>
        </p:nvSpPr>
        <p:spPr>
          <a:xfrm>
            <a:off x="1510537" y="5897880"/>
            <a:ext cx="85953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 dirty="0">
                <a:solidFill>
                  <a:srgbClr val="0A1426"/>
                </a:solidFill>
                <a:latin typeface="Aptos"/>
              </a:rPr>
              <a:t>POST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0F5F83F-3112-D86B-1928-78E25A5DA046}"/>
              </a:ext>
            </a:extLst>
          </p:cNvPr>
          <p:cNvSpPr txBox="1"/>
          <p:nvPr/>
        </p:nvSpPr>
        <p:spPr>
          <a:xfrm>
            <a:off x="5119959" y="5880943"/>
            <a:ext cx="85953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 dirty="0">
                <a:solidFill>
                  <a:srgbClr val="0A1426"/>
                </a:solidFill>
                <a:latin typeface="Aptos"/>
              </a:rPr>
              <a:t>PUT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70B283-4A7D-4048-9BFC-8E05590DE3FF}"/>
              </a:ext>
            </a:extLst>
          </p:cNvPr>
          <p:cNvSpPr txBox="1"/>
          <p:nvPr/>
        </p:nvSpPr>
        <p:spPr>
          <a:xfrm>
            <a:off x="9163085" y="5960278"/>
            <a:ext cx="85953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 dirty="0">
                <a:solidFill>
                  <a:srgbClr val="0A1426"/>
                </a:solidFill>
                <a:latin typeface="Aptos"/>
              </a:rPr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1358762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29D8BE"/>
                </a:solidFill>
                <a:latin typeface="Aptos"/>
              </a:rPr>
              <a:t>03  /  REQUEST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From request to JSON response.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80160"/>
            <a:ext cx="1060704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A6B7CD"/>
                </a:solidFill>
                <a:latin typeface="Aptos"/>
              </a:rPr>
              <a:t>The server routes each request to the product-handling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965960"/>
            <a:ext cx="1645920" cy="1170432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 w="15240">
            <a:solidFill>
              <a:srgbClr val="5B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44168" y="2139696"/>
            <a:ext cx="438912" cy="438912"/>
          </a:xfrm>
          <a:prstGeom prst="ellipse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167128"/>
            <a:ext cx="38404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A1426"/>
                </a:solidFill>
                <a:latin typeface="Consolas"/>
              </a:rPr>
              <a:t>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60904"/>
            <a:ext cx="146304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5F9FF"/>
                </a:solidFill>
                <a:latin typeface="Aptos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98648"/>
            <a:ext cx="146304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00" b="0">
                <a:solidFill>
                  <a:srgbClr val="A6B7CD"/>
                </a:solidFill>
                <a:latin typeface="Aptos"/>
              </a:rPr>
              <a:t>Postman /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965960"/>
            <a:ext cx="1645920" cy="1170432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 w="15240">
            <a:solidFill>
              <a:srgbClr val="29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11879" y="2139696"/>
            <a:ext cx="438912" cy="438912"/>
          </a:xfrm>
          <a:prstGeom prst="ellipse">
            <a:avLst/>
          </a:prstGeom>
          <a:solidFill>
            <a:srgbClr val="29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2167128"/>
            <a:ext cx="38404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A1426"/>
                </a:solidFill>
                <a:latin typeface="Consolas"/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660904"/>
            <a:ext cx="146304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5F9FF"/>
                </a:solidFill>
                <a:latin typeface="Aptos"/>
              </a:rPr>
              <a:t>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898648"/>
            <a:ext cx="146304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00" b="0">
                <a:solidFill>
                  <a:srgbClr val="A6B7CD"/>
                </a:solidFill>
                <a:latin typeface="Aptos"/>
              </a:rPr>
              <a:t>server.js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85232" y="1965960"/>
            <a:ext cx="1645920" cy="1170432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 w="15240">
            <a:solidFill>
              <a:srgbClr val="FFB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79592" y="2139696"/>
            <a:ext cx="438912" cy="438912"/>
          </a:xfrm>
          <a:prstGeom prst="ellipse">
            <a:avLst/>
          </a:prstGeom>
          <a:solidFill>
            <a:srgbClr val="FF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07024" y="2167128"/>
            <a:ext cx="38404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A1426"/>
                </a:solidFill>
                <a:latin typeface="Consolas"/>
              </a:rPr>
              <a:t>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2660904"/>
            <a:ext cx="146304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5F9FF"/>
                </a:solidFill>
                <a:latin typeface="Aptos"/>
              </a:rPr>
              <a:t>ROUTES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2898648"/>
            <a:ext cx="146304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00" b="0">
                <a:solidFill>
                  <a:srgbClr val="A6B7CD"/>
                </a:solidFill>
                <a:latin typeface="Aptos"/>
              </a:rPr>
              <a:t>routes/products.js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965960"/>
            <a:ext cx="1645920" cy="1170432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 w="15240">
            <a:solidFill>
              <a:srgbClr val="60E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147304" y="2139696"/>
            <a:ext cx="438912" cy="438912"/>
          </a:xfrm>
          <a:prstGeom prst="ellipse">
            <a:avLst/>
          </a:prstGeom>
          <a:solidFill>
            <a:srgbClr val="60E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74736" y="2167128"/>
            <a:ext cx="38404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A1426"/>
                </a:solidFill>
                <a:latin typeface="Consolas"/>
              </a:rPr>
              <a:t>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383" y="2660904"/>
            <a:ext cx="146304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5F9FF"/>
                </a:solidFill>
                <a:latin typeface="Aptos"/>
              </a:rPr>
              <a:t>PRODUCT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2898648"/>
            <a:ext cx="146304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00" b="0">
                <a:solidFill>
                  <a:srgbClr val="A6B7CD"/>
                </a:solidFill>
                <a:latin typeface="Aptos"/>
              </a:rPr>
              <a:t>In-memory array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0656" y="1965960"/>
            <a:ext cx="1645920" cy="1170432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 w="15240">
            <a:solidFill>
              <a:srgbClr val="5B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15016" y="2139696"/>
            <a:ext cx="438912" cy="438912"/>
          </a:xfrm>
          <a:prstGeom prst="ellipse">
            <a:avLst/>
          </a:prstGeom>
          <a:solidFill>
            <a:srgbClr val="5B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42448" y="2167128"/>
            <a:ext cx="38404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A1426"/>
                </a:solidFill>
                <a:latin typeface="Consolas"/>
              </a:rPr>
              <a:t>{}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12096" y="2660904"/>
            <a:ext cx="146304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5F9FF"/>
                </a:solidFill>
                <a:latin typeface="Aptos"/>
              </a:rPr>
              <a:t>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12096" y="2898648"/>
            <a:ext cx="146304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00" b="0">
                <a:solidFill>
                  <a:srgbClr val="A6B7CD"/>
                </a:solidFill>
                <a:latin typeface="Aptos"/>
              </a:rPr>
              <a:t>JSON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50592" y="2560320"/>
            <a:ext cx="429768" cy="0"/>
          </a:xfrm>
          <a:prstGeom prst="line">
            <a:avLst/>
          </a:prstGeom>
          <a:ln w="25400">
            <a:solidFill>
              <a:srgbClr val="29D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evron 30"/>
          <p:cNvSpPr/>
          <p:nvPr/>
        </p:nvSpPr>
        <p:spPr>
          <a:xfrm>
            <a:off x="2752344" y="2450592"/>
            <a:ext cx="201168" cy="219456"/>
          </a:xfrm>
          <a:prstGeom prst="chevron">
            <a:avLst/>
          </a:prstGeom>
          <a:solidFill>
            <a:srgbClr val="29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4718304" y="2560320"/>
            <a:ext cx="429768" cy="0"/>
          </a:xfrm>
          <a:prstGeom prst="line">
            <a:avLst/>
          </a:prstGeom>
          <a:ln w="25400">
            <a:solidFill>
              <a:srgbClr val="29D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hevron 32"/>
          <p:cNvSpPr/>
          <p:nvPr/>
        </p:nvSpPr>
        <p:spPr>
          <a:xfrm>
            <a:off x="5020056" y="2450592"/>
            <a:ext cx="201168" cy="219456"/>
          </a:xfrm>
          <a:prstGeom prst="chevron">
            <a:avLst/>
          </a:prstGeom>
          <a:solidFill>
            <a:srgbClr val="29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6986016" y="2560320"/>
            <a:ext cx="429767" cy="0"/>
          </a:xfrm>
          <a:prstGeom prst="line">
            <a:avLst/>
          </a:prstGeom>
          <a:ln w="25400">
            <a:solidFill>
              <a:srgbClr val="29D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hevron 34"/>
          <p:cNvSpPr/>
          <p:nvPr/>
        </p:nvSpPr>
        <p:spPr>
          <a:xfrm>
            <a:off x="7287768" y="2450592"/>
            <a:ext cx="201168" cy="219456"/>
          </a:xfrm>
          <a:prstGeom prst="chevron">
            <a:avLst/>
          </a:prstGeom>
          <a:solidFill>
            <a:srgbClr val="29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" name="Connector 35"/>
          <p:cNvCxnSpPr/>
          <p:nvPr/>
        </p:nvCxnSpPr>
        <p:spPr>
          <a:xfrm>
            <a:off x="9253728" y="2560320"/>
            <a:ext cx="429768" cy="0"/>
          </a:xfrm>
          <a:prstGeom prst="line">
            <a:avLst/>
          </a:prstGeom>
          <a:ln w="25400">
            <a:solidFill>
              <a:srgbClr val="29D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evron 36"/>
          <p:cNvSpPr/>
          <p:nvPr/>
        </p:nvSpPr>
        <p:spPr>
          <a:xfrm>
            <a:off x="9555480" y="2450592"/>
            <a:ext cx="201168" cy="219456"/>
          </a:xfrm>
          <a:prstGeom prst="chevron">
            <a:avLst/>
          </a:prstGeom>
          <a:solidFill>
            <a:srgbClr val="29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49808" y="3730752"/>
            <a:ext cx="3474720" cy="1536192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 w="15240">
            <a:solidFill>
              <a:srgbClr val="18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49808" y="3730752"/>
            <a:ext cx="54864" cy="1536192"/>
          </a:xfrm>
          <a:prstGeom prst="rect">
            <a:avLst/>
          </a:prstGeom>
          <a:solidFill>
            <a:srgbClr val="FF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50976" y="3904488"/>
            <a:ext cx="53035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300" b="1">
                <a:solidFill>
                  <a:srgbClr val="FF7080"/>
                </a:solidFill>
                <a:latin typeface="Consolas"/>
              </a:rPr>
              <a:t>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72768" y="3895344"/>
            <a:ext cx="2487168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600" b="1">
                <a:solidFill>
                  <a:srgbClr val="F5F9FF"/>
                </a:solidFill>
                <a:latin typeface="Aptos"/>
              </a:rPr>
              <a:t>400  •  Bad Request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7" y="4352544"/>
            <a:ext cx="3035808" cy="7863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0">
                <a:solidFill>
                  <a:srgbClr val="A6B7CD"/>
                </a:solidFill>
                <a:latin typeface="Aptos"/>
              </a:rPr>
              <a:t>POST returns 400 when required product data is missing.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52544" y="3730752"/>
            <a:ext cx="3474720" cy="1536192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 w="15240">
            <a:solidFill>
              <a:srgbClr val="18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352544" y="3730752"/>
            <a:ext cx="54864" cy="1536192"/>
          </a:xfrm>
          <a:prstGeom prst="rect">
            <a:avLst/>
          </a:prstGeom>
          <a:solidFill>
            <a:srgbClr val="FF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53712" y="3904488"/>
            <a:ext cx="53035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300" b="1">
                <a:solidFill>
                  <a:srgbClr val="FFB55C"/>
                </a:solidFill>
                <a:latin typeface="Consolas"/>
              </a:rPr>
              <a:t>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75504" y="3895344"/>
            <a:ext cx="2487167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600" b="1">
                <a:solidFill>
                  <a:srgbClr val="F5F9FF"/>
                </a:solidFill>
                <a:latin typeface="Aptos"/>
              </a:rPr>
              <a:t>404  •  Not Found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81144" y="4352544"/>
            <a:ext cx="3035808" cy="7863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0">
                <a:solidFill>
                  <a:srgbClr val="A6B7CD"/>
                </a:solidFill>
                <a:latin typeface="Aptos"/>
              </a:rPr>
              <a:t>GET by ID, PUT, or DELETE returns 404 if the product is absent.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55279" y="3730752"/>
            <a:ext cx="3474720" cy="1536192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 w="15240">
            <a:solidFill>
              <a:srgbClr val="18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955279" y="3730752"/>
            <a:ext cx="54864" cy="1536192"/>
          </a:xfrm>
          <a:prstGeom prst="rect">
            <a:avLst/>
          </a:prstGeom>
          <a:solidFill>
            <a:srgbClr val="60E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56448" y="3904488"/>
            <a:ext cx="53035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300" b="1">
                <a:solidFill>
                  <a:srgbClr val="60E09B"/>
                </a:solidFill>
                <a:latin typeface="Consolas"/>
              </a:rPr>
              <a:t>{}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3895344"/>
            <a:ext cx="2487167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600" b="1">
                <a:solidFill>
                  <a:srgbClr val="F5F9FF"/>
                </a:solidFill>
                <a:latin typeface="Aptos"/>
              </a:rPr>
              <a:t>Product fields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79" y="4352544"/>
            <a:ext cx="3035808" cy="7863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0">
                <a:solidFill>
                  <a:srgbClr val="A6B7CD"/>
                </a:solidFill>
                <a:latin typeface="Aptos"/>
              </a:rPr>
              <a:t>Each product has id, name, price, and quantity.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9808" y="5577840"/>
            <a:ext cx="10680192" cy="493776"/>
          </a:xfrm>
          <a:prstGeom prst="roundRect">
            <a:avLst>
              <a:gd name="adj" fmla="val 12000"/>
            </a:avLst>
          </a:prstGeom>
          <a:solidFill>
            <a:srgbClr val="18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0120" y="5650992"/>
            <a:ext cx="10222992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9D8BE"/>
                </a:solidFill>
                <a:latin typeface="Aptos"/>
              </a:rPr>
              <a:t>Key idea: HTTP method + route + JSON body (when needed) = a clear API action.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2700">
            <a:solidFill>
              <a:srgbClr val="18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AE748A6-C350-C99A-FF24-834C1B78F9A5}"/>
              </a:ext>
            </a:extLst>
          </p:cNvPr>
          <p:cNvSpPr txBox="1"/>
          <p:nvPr/>
        </p:nvSpPr>
        <p:spPr>
          <a:xfrm>
            <a:off x="11023193" y="6500294"/>
            <a:ext cx="484428" cy="2142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92" b="1">
                <a:solidFill>
                  <a:srgbClr val="18DCBE"/>
                </a:solidFill>
                <a:latin typeface="Aptos"/>
              </a:defRPr>
            </a:pPr>
            <a:r>
              <a:rPr dirty="0"/>
              <a:t>0</a:t>
            </a:r>
            <a:r>
              <a:rPr lang="en-GB" dirty="0"/>
              <a:t>6 </a:t>
            </a:r>
            <a:r>
              <a:rPr dirty="0"/>
              <a:t>/ </a:t>
            </a:r>
            <a:r>
              <a:rPr lang="en-GB" dirty="0"/>
              <a:t>08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1">
                <a:solidFill>
                  <a:srgbClr val="29D8BE"/>
                </a:solidFill>
                <a:latin typeface="Aptos"/>
              </a:rPr>
              <a:t>04  /  DELIVERY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Built collaboratively. Tested with Postman.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80160"/>
            <a:ext cx="1060704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A6B7CD"/>
                </a:solidFill>
                <a:latin typeface="Aptos"/>
              </a:rPr>
              <a:t>A working foundation for inventory management, ready for the next improvement.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011680"/>
            <a:ext cx="3438144" cy="2084831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 w="15240">
            <a:solidFill>
              <a:srgbClr val="18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2267712"/>
            <a:ext cx="621792" cy="621792"/>
          </a:xfrm>
          <a:prstGeom prst="ellipse">
            <a:avLst/>
          </a:prstGeom>
          <a:solidFill>
            <a:srgbClr val="182C46"/>
          </a:solidFill>
          <a:ln>
            <a:solidFill>
              <a:srgbClr val="5B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2386584"/>
            <a:ext cx="56692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5BBEFF"/>
                </a:solidFill>
                <a:latin typeface="Consolas"/>
              </a:rPr>
              <a:t>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90672"/>
            <a:ext cx="290779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Aptos"/>
              </a:rPr>
              <a:t>TEAMWORK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02152"/>
            <a:ext cx="290779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00" b="0">
                <a:solidFill>
                  <a:srgbClr val="A6B7CD"/>
                </a:solidFill>
                <a:latin typeface="Aptos"/>
              </a:rPr>
              <a:t>Individual GitHub commits show each member’s contribution.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38144" cy="2084831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 w="15240">
            <a:solidFill>
              <a:srgbClr val="18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26864" y="2267712"/>
            <a:ext cx="621792" cy="621792"/>
          </a:xfrm>
          <a:prstGeom prst="ellipse">
            <a:avLst/>
          </a:prstGeom>
          <a:solidFill>
            <a:srgbClr val="182C46"/>
          </a:solidFill>
          <a:ln>
            <a:solidFill>
              <a:srgbClr val="60E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54296" y="2386584"/>
            <a:ext cx="56692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60E09B"/>
                </a:solidFill>
                <a:latin typeface="Consolas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3090672"/>
            <a:ext cx="290779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Aptos"/>
              </a:rPr>
              <a:t>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502152"/>
            <a:ext cx="290779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00" b="0">
                <a:solidFill>
                  <a:srgbClr val="A6B7CD"/>
                </a:solidFill>
                <a:latin typeface="Aptos"/>
              </a:rPr>
              <a:t>Postman collection in the repository helps verify the endpoints.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2011680"/>
            <a:ext cx="3438144" cy="2084831"/>
          </a:xfrm>
          <a:prstGeom prst="roundRect">
            <a:avLst>
              <a:gd name="adj" fmla="val 12000"/>
            </a:avLst>
          </a:prstGeom>
          <a:solidFill>
            <a:srgbClr val="122239"/>
          </a:solidFill>
          <a:ln w="15240">
            <a:solidFill>
              <a:srgbClr val="18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47888" y="2267712"/>
            <a:ext cx="621792" cy="621792"/>
          </a:xfrm>
          <a:prstGeom prst="ellipse">
            <a:avLst/>
          </a:prstGeom>
          <a:solidFill>
            <a:srgbClr val="182C46"/>
          </a:solidFill>
          <a:ln>
            <a:solidFill>
              <a:srgbClr val="FFB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386584"/>
            <a:ext cx="56692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B55C"/>
                </a:solidFill>
                <a:latin typeface="Consolas"/>
              </a:rPr>
              <a:t>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090672"/>
            <a:ext cx="290779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00" b="1">
                <a:solidFill>
                  <a:srgbClr val="F5F9FF"/>
                </a:solidFill>
                <a:latin typeface="Aptos"/>
              </a:rPr>
              <a:t>NEXT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502152"/>
            <a:ext cx="290779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00" b="0">
                <a:solidFill>
                  <a:srgbClr val="A6B7CD"/>
                </a:solidFill>
                <a:latin typeface="Aptos"/>
              </a:rPr>
              <a:t>Connect a real database so product data persists after restart.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42616" y="5074921"/>
            <a:ext cx="1033272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00" b="0">
                <a:solidFill>
                  <a:srgbClr val="A6B7CD"/>
                </a:solidFill>
                <a:latin typeface="Consolas"/>
              </a:rPr>
              <a:t>Repository: github.com/auriela16/Product-Inventory-API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2700">
            <a:solidFill>
              <a:srgbClr val="18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E0E0279-5E27-B430-430E-7639493D7E62}"/>
              </a:ext>
            </a:extLst>
          </p:cNvPr>
          <p:cNvSpPr txBox="1"/>
          <p:nvPr/>
        </p:nvSpPr>
        <p:spPr>
          <a:xfrm>
            <a:off x="11521379" y="6537531"/>
            <a:ext cx="463588" cy="2142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92" b="1">
                <a:solidFill>
                  <a:srgbClr val="18DCBE"/>
                </a:solidFill>
                <a:latin typeface="Aptos"/>
              </a:defRPr>
            </a:pPr>
            <a:r>
              <a:rPr dirty="0"/>
              <a:t>0</a:t>
            </a:r>
            <a:r>
              <a:rPr lang="en-GB" dirty="0"/>
              <a:t>7</a:t>
            </a:r>
            <a:r>
              <a:rPr dirty="0"/>
              <a:t>/ </a:t>
            </a:r>
            <a:r>
              <a:rPr lang="en-GB" dirty="0"/>
              <a:t>08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2849880" y="2631730"/>
            <a:ext cx="649224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Thank you.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7842" y="3141030"/>
            <a:ext cx="7040880" cy="301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600" b="1">
                <a:solidFill>
                  <a:srgbClr val="29D8BE"/>
                </a:solidFill>
                <a:latin typeface="Aptos"/>
              </a:rPr>
              <a:t>Questions &amp; discussion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6888" y="3460061"/>
            <a:ext cx="1783080" cy="6858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500" b="1">
                <a:solidFill>
                  <a:srgbClr val="29D8BE"/>
                </a:solidFill>
                <a:latin typeface="Consolas"/>
              </a:rPr>
              <a:t>{ API }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2700">
            <a:solidFill>
              <a:srgbClr val="18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29C2E2C-28F8-9A2E-A1C0-FE058E2891E1}"/>
              </a:ext>
            </a:extLst>
          </p:cNvPr>
          <p:cNvSpPr txBox="1"/>
          <p:nvPr/>
        </p:nvSpPr>
        <p:spPr>
          <a:xfrm>
            <a:off x="11238113" y="6567727"/>
            <a:ext cx="463588" cy="2142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92" b="1">
                <a:solidFill>
                  <a:srgbClr val="18DCBE"/>
                </a:solidFill>
                <a:latin typeface="Aptos"/>
              </a:defRPr>
            </a:pPr>
            <a:r>
              <a:rPr dirty="0"/>
              <a:t>0</a:t>
            </a:r>
            <a:r>
              <a:rPr lang="en-GB" dirty="0"/>
              <a:t>8</a:t>
            </a:r>
            <a:r>
              <a:rPr dirty="0"/>
              <a:t>/ </a:t>
            </a:r>
            <a:r>
              <a:rPr lang="en-GB" dirty="0"/>
              <a:t>08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023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Mustapha Tukur</cp:lastModifiedBy>
  <cp:revision>8</cp:revision>
  <dcterms:created xsi:type="dcterms:W3CDTF">2013-01-27T09:14:16Z</dcterms:created>
  <dcterms:modified xsi:type="dcterms:W3CDTF">2026-10-28T04:13:49Z</dcterms:modified>
  <cp:category/>
</cp:coreProperties>
</file>